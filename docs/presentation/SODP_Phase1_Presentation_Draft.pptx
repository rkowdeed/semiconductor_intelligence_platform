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80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5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Semiconductor_Operations_Data_Platform (SODP) - 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  <a:defRPr sz="2000"/>
            </a:pPr>
            <a:r>
              <a:rPr lang="en-IN" dirty="0"/>
              <a:t>Phase-1</a:t>
            </a:r>
          </a:p>
          <a:p>
            <a:pPr marL="0" indent="0">
              <a:buNone/>
              <a:defRPr sz="2000"/>
            </a:pPr>
            <a:endParaRPr lang="en-IN" dirty="0"/>
          </a:p>
          <a:p>
            <a:pPr>
              <a:defRPr sz="2000"/>
            </a:pPr>
            <a:r>
              <a:rPr dirty="0"/>
              <a:t>Metadata-Driven Ingestion for Semiconductor Manufacturing</a:t>
            </a:r>
          </a:p>
          <a:p>
            <a:pPr>
              <a:defRPr sz="2000"/>
            </a:pPr>
            <a:r>
              <a:rPr dirty="0"/>
              <a:t>AWS-native local stack: </a:t>
            </a:r>
            <a:r>
              <a:rPr dirty="0" err="1"/>
              <a:t>FastAPI</a:t>
            </a:r>
            <a:r>
              <a:rPr dirty="0"/>
              <a:t> + PostgreSQL + S3 + Kinesis</a:t>
            </a:r>
          </a:p>
          <a:p>
            <a:pPr>
              <a:defRPr sz="2000"/>
            </a:pPr>
            <a:r>
              <a:rPr dirty="0"/>
              <a:t>Ingests MES, ERP, Equipment, and PLM events</a:t>
            </a:r>
          </a:p>
          <a:p>
            <a:pPr>
              <a:defRPr sz="2000"/>
            </a:pPr>
            <a:r>
              <a:rPr dirty="0"/>
              <a:t>Validates payloads, stores raw data, publishes streams, persists curated records</a:t>
            </a:r>
          </a:p>
          <a:p>
            <a:pPr>
              <a:defRPr sz="2000"/>
            </a:pPr>
            <a:r>
              <a:rPr dirty="0"/>
              <a:t>Built for source onboarding by configuration, </a:t>
            </a:r>
            <a:r>
              <a:rPr lang="en-IN" dirty="0"/>
              <a:t>no</a:t>
            </a:r>
            <a:r>
              <a:rPr dirty="0"/>
              <a:t> endpoint code changes</a:t>
            </a:r>
            <a:r>
              <a:rPr lang="en-IN" dirty="0"/>
              <a:t> required</a:t>
            </a:r>
          </a:p>
          <a:p>
            <a:pPr>
              <a:defRPr sz="2000"/>
            </a:pPr>
            <a:endParaRPr lang="en-IN" dirty="0"/>
          </a:p>
          <a:p>
            <a:pPr marL="0" indent="0">
              <a:buNone/>
              <a:defRPr sz="2000"/>
            </a:pPr>
            <a:r>
              <a:rPr lang="en-IN" dirty="0"/>
              <a:t>Phase-2</a:t>
            </a:r>
          </a:p>
          <a:p>
            <a:pPr marL="0" indent="0">
              <a:buNone/>
              <a:defRPr sz="2000"/>
            </a:pPr>
            <a:endParaRPr lang="en-IN" dirty="0"/>
          </a:p>
          <a:p>
            <a:pPr>
              <a:defRPr sz="2000"/>
            </a:pPr>
            <a:r>
              <a:rPr lang="en-IN" dirty="0"/>
              <a:t>Master Data Management capability</a:t>
            </a:r>
          </a:p>
          <a:p>
            <a:pPr>
              <a:defRPr sz="2000"/>
            </a:pPr>
            <a:r>
              <a:rPr lang="en-IN" dirty="0"/>
              <a:t>Enables critical insights, fault prediction, reports etc through Agentic AI Orchestration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Business context and problem statement</a:t>
            </a:r>
          </a:p>
          <a:p>
            <a:pPr>
              <a:defRPr sz="2000"/>
            </a:pPr>
            <a:r>
              <a:t>Platform goals and architecture</a:t>
            </a:r>
          </a:p>
          <a:p>
            <a:pPr>
              <a:defRPr sz="2000"/>
            </a:pPr>
            <a:r>
              <a:t>Source systems in semiconductor</a:t>
            </a:r>
          </a:p>
          <a:p>
            <a:pPr>
              <a:defRPr sz="2000"/>
            </a:pPr>
            <a:r>
              <a:t>End-to-end ingestion flow</a:t>
            </a:r>
          </a:p>
          <a:p>
            <a:pPr>
              <a:defRPr sz="2000"/>
            </a:pPr>
            <a:r>
              <a:t>Data model and lineage</a:t>
            </a:r>
          </a:p>
          <a:p>
            <a:pPr>
              <a:defRPr sz="2000"/>
            </a:pPr>
            <a:r>
              <a:t>Deployment, APIs, and operations</a:t>
            </a:r>
          </a:p>
          <a:p>
            <a:pPr>
              <a:defRPr sz="2000"/>
            </a:pPr>
            <a:r>
              <a:t>Testing, verification, and demo flow</a:t>
            </a:r>
          </a:p>
          <a:p>
            <a:pPr>
              <a:defRPr sz="2000"/>
            </a:pPr>
            <a:r>
              <a:t>Current status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lang="en-IN"/>
              <a:t>Problem Statement:</a:t>
            </a:r>
          </a:p>
          <a:p>
            <a:pPr>
              <a:defRPr sz="2000"/>
            </a:pPr>
            <a:r>
              <a:rPr dirty="0"/>
              <a:t>Semiconductor manufacturing depends on strict process control, traceability, and rapid issue response</a:t>
            </a:r>
          </a:p>
          <a:p>
            <a:pPr>
              <a:defRPr sz="2000"/>
            </a:pPr>
            <a:r>
              <a:rPr dirty="0"/>
              <a:t>Factory and enterprise data are typically fragmented across systems</a:t>
            </a:r>
          </a:p>
          <a:p>
            <a:pPr>
              <a:defRPr sz="2000"/>
            </a:pPr>
            <a:r>
              <a:rPr dirty="0"/>
              <a:t>Common challenge: integrating new source systems without repeatedly changing service code</a:t>
            </a:r>
          </a:p>
          <a:p>
            <a:pPr marL="0" indent="0">
              <a:buNone/>
              <a:defRPr sz="2000"/>
            </a:pPr>
            <a:endParaRPr lang="en-IN" dirty="0"/>
          </a:p>
          <a:p>
            <a:pPr marL="0" indent="0">
              <a:buNone/>
              <a:defRPr sz="2000"/>
            </a:pPr>
            <a:r>
              <a:rPr dirty="0"/>
              <a:t>Outcome:</a:t>
            </a:r>
          </a:p>
          <a:p>
            <a:pPr>
              <a:defRPr sz="2000"/>
            </a:pPr>
            <a:r>
              <a:rPr dirty="0"/>
              <a:t>Reliable ingestion framework with validation, observability, and metadata-driven extensibility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Platform Goals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  <a:defRPr sz="2000"/>
            </a:pPr>
            <a:r>
              <a:rPr dirty="0"/>
              <a:t>Standardize</a:t>
            </a:r>
            <a:r>
              <a:rPr lang="en-IN" dirty="0"/>
              <a:t> and Simplify</a:t>
            </a:r>
            <a:r>
              <a:rPr dirty="0"/>
              <a:t> </a:t>
            </a:r>
            <a:r>
              <a:rPr lang="en-IN" dirty="0"/>
              <a:t>Data </a:t>
            </a:r>
            <a:r>
              <a:rPr dirty="0"/>
              <a:t>ingestion</a:t>
            </a:r>
            <a:r>
              <a:rPr lang="en-IN" dirty="0"/>
              <a:t>, Storage and Consumption</a:t>
            </a:r>
            <a:endParaRPr dirty="0"/>
          </a:p>
          <a:p>
            <a:pPr>
              <a:defRPr sz="2000"/>
            </a:pPr>
            <a:r>
              <a:rPr lang="en-IN" dirty="0"/>
              <a:t>Schema: Implement</a:t>
            </a:r>
            <a:r>
              <a:rPr dirty="0"/>
              <a:t> schema-driven </a:t>
            </a:r>
            <a:r>
              <a:rPr lang="en-IN" dirty="0"/>
              <a:t>data save</a:t>
            </a:r>
          </a:p>
          <a:p>
            <a:pPr>
              <a:defRPr sz="2000"/>
            </a:pPr>
            <a:r>
              <a:rPr lang="en-IN" dirty="0"/>
              <a:t>Quality: Ensure quality checks for clean downstream consumption</a:t>
            </a:r>
            <a:endParaRPr dirty="0"/>
          </a:p>
          <a:p>
            <a:pPr>
              <a:defRPr sz="2000"/>
            </a:pPr>
            <a:r>
              <a:rPr lang="en-IN" dirty="0"/>
              <a:t>Near Real time Storage: Store payloads</a:t>
            </a:r>
            <a:r>
              <a:rPr dirty="0"/>
              <a:t> in S3</a:t>
            </a:r>
          </a:p>
          <a:p>
            <a:pPr>
              <a:defRPr sz="2000"/>
            </a:pPr>
            <a:r>
              <a:rPr lang="en-IN" dirty="0"/>
              <a:t>Curated Data Sets: </a:t>
            </a:r>
            <a:r>
              <a:rPr dirty="0"/>
              <a:t>Curated operational records in PostgreSQL</a:t>
            </a:r>
          </a:p>
          <a:p>
            <a:pPr>
              <a:defRPr sz="2000"/>
            </a:pPr>
            <a:r>
              <a:rPr lang="en-IN" dirty="0"/>
              <a:t>Event Streaming: </a:t>
            </a:r>
            <a:r>
              <a:rPr dirty="0"/>
              <a:t>Publish events to Kinesis for asynchronous consumers</a:t>
            </a:r>
            <a:endParaRPr lang="en-IN" dirty="0"/>
          </a:p>
          <a:p>
            <a:pPr marL="0" indent="0">
              <a:buNone/>
              <a:defRPr sz="2000"/>
            </a:pPr>
            <a:endParaRPr lang="en-IN" dirty="0"/>
          </a:p>
          <a:p>
            <a:pPr marL="0" indent="0">
              <a:buNone/>
              <a:defRPr sz="2000"/>
            </a:pPr>
            <a:r>
              <a:rPr lang="en-IN" dirty="0"/>
              <a:t>Master Data Management (MDM) capability</a:t>
            </a:r>
          </a:p>
          <a:p>
            <a:pPr>
              <a:defRPr sz="2000"/>
            </a:pPr>
            <a:r>
              <a:rPr lang="en-IN" sz="2000" dirty="0"/>
              <a:t>Lineage: Data relationship is essential for traceability, auditability, root-cause analysis and regulatory needs.</a:t>
            </a:r>
          </a:p>
          <a:p>
            <a:r>
              <a:rPr lang="en-IN" sz="2000" dirty="0"/>
              <a:t>Multi-system reconciliation: MES, PLM, ERP, and equipment can be compared by source and event timelines.</a:t>
            </a:r>
          </a:p>
          <a:p>
            <a:r>
              <a:rPr lang="en-IN" sz="2000" dirty="0"/>
              <a:t>Metadata-driven source onboarding lets you add sources while preserving a common MDM control plane.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Systems in Semiconductor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MES (Manufacturing Execution System)</a:t>
            </a:r>
          </a:p>
          <a:p>
            <a:pPr>
              <a:defRPr sz="2000"/>
            </a:pPr>
            <a:r>
              <a:t>Tracks wafer lot movement and process execution in real time</a:t>
            </a:r>
          </a:p>
          <a:p>
            <a:pPr>
              <a:defRPr sz="2000"/>
            </a:pPr>
            <a:r>
              <a:t>Enforces route and recipe discipline for yield and traceability</a:t>
            </a:r>
          </a:p>
          <a:p>
            <a:pPr>
              <a:defRPr sz="2000"/>
            </a:pPr>
            <a:r>
              <a:t>Equipment systems</a:t>
            </a:r>
          </a:p>
          <a:p>
            <a:pPr>
              <a:defRPr sz="2000"/>
            </a:pPr>
            <a:r>
              <a:t>Tool telemetry and state events (alarms, status changes, context)</a:t>
            </a:r>
          </a:p>
          <a:p>
            <a:pPr>
              <a:defRPr sz="2000"/>
            </a:pPr>
            <a:r>
              <a:t>Critical for uptime, excursion detection, and root-cause analysis</a:t>
            </a:r>
          </a:p>
          <a:p>
            <a:pPr>
              <a:defRPr sz="2000"/>
            </a:pPr>
            <a:r>
              <a:t>ERP (Enterprise Resource Planning)</a:t>
            </a:r>
          </a:p>
          <a:p>
            <a:pPr>
              <a:defRPr sz="2000"/>
            </a:pPr>
            <a:r>
              <a:t>Work orders, planning, inventory, procurement, fulfillment alignment</a:t>
            </a:r>
          </a:p>
          <a:p>
            <a:pPr>
              <a:defRPr sz="2000"/>
            </a:pPr>
            <a:r>
              <a:t>Connects fab execution with business demand and cost controls</a:t>
            </a:r>
          </a:p>
          <a:p>
            <a:pPr>
              <a:defRPr sz="2000"/>
            </a:pPr>
            <a:r>
              <a:t>PLM (Product Lifecycle Management)</a:t>
            </a:r>
          </a:p>
          <a:p>
            <a:pPr>
              <a:defRPr sz="2000"/>
            </a:pPr>
            <a:r>
              <a:t>Product definitions, BOM/revisions, lifecycle state and ECO/ECR control</a:t>
            </a:r>
          </a:p>
          <a:p>
            <a:pPr>
              <a:defRPr sz="2000"/>
            </a:pPr>
            <a:r>
              <a:t>Ensures manufacturing follows approved engineering intent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Incoming REST Request</a:t>
            </a:r>
          </a:p>
          <a:p>
            <a:pPr>
              <a:defRPr sz="2000"/>
            </a:pPr>
            <a:r>
              <a:t>Load metadata from metadata/sources.yaml</a:t>
            </a:r>
          </a:p>
          <a:p>
            <a:pPr>
              <a:defRPr sz="2000"/>
            </a:pPr>
            <a:r>
              <a:t>Load schema from schemas/source</a:t>
            </a:r>
          </a:p>
          <a:p>
            <a:pPr>
              <a:defRPr sz="2000"/>
            </a:pPr>
            <a:r>
              <a:t>Validate payload (400 on failure)</a:t>
            </a:r>
          </a:p>
          <a:p>
            <a:pPr>
              <a:defRPr sz="2000"/>
            </a:pPr>
            <a:r>
              <a:t>Persist raw payload to S3 (LocalStack)</a:t>
            </a:r>
          </a:p>
          <a:p>
            <a:pPr>
              <a:defRPr sz="2000"/>
            </a:pPr>
            <a:r>
              <a:t>Publish event to Kinesis (LocalStack)</a:t>
            </a:r>
          </a:p>
          <a:p>
            <a:pPr>
              <a:defRPr sz="2000"/>
            </a:pPr>
            <a:r>
              <a:t>Insert curated record into PostgreSQL</a:t>
            </a:r>
          </a:p>
          <a:p>
            <a:pPr>
              <a:defRPr sz="2000"/>
            </a:pPr>
            <a:r>
              <a:t>Return HTTP 202 Accepted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Metadata-Driven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Core metadata files:</a:t>
            </a:r>
          </a:p>
          <a:p>
            <a:pPr>
              <a:defRPr sz="2000"/>
            </a:pPr>
            <a:r>
              <a:t>metadata/sources.yaml</a:t>
            </a:r>
          </a:p>
          <a:p>
            <a:pPr>
              <a:defRPr sz="2000"/>
            </a:pPr>
            <a:r>
              <a:t>metadata/mappings.yaml</a:t>
            </a:r>
          </a:p>
          <a:p>
            <a:pPr>
              <a:defRPr sz="2000"/>
            </a:pPr>
            <a:r>
              <a:t>metadata/routing.yaml</a:t>
            </a:r>
          </a:p>
          <a:p>
            <a:pPr>
              <a:defRPr sz="2000"/>
            </a:pPr>
            <a:r>
              <a:t>metadata/validation.yaml</a:t>
            </a:r>
          </a:p>
          <a:p>
            <a:pPr>
              <a:defRPr sz="2000"/>
            </a:pPr>
            <a:r>
              <a:t>metadata/streams.yaml</a:t>
            </a:r>
          </a:p>
          <a:p>
            <a:pPr>
              <a:defRPr sz="2000"/>
            </a:pPr>
            <a:r>
              <a:t>Principle:</a:t>
            </a:r>
          </a:p>
          <a:p>
            <a:pPr>
              <a:defRPr sz="2000"/>
            </a:pPr>
            <a:r>
              <a:t>New source onboarding is primarily metadata and schema updates</a:t>
            </a:r>
          </a:p>
          <a:p>
            <a:pPr>
              <a:defRPr sz="2000"/>
            </a:pPr>
            <a:r>
              <a:t>Minimal to no endpoint-handler code changes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 3.12</a:t>
            </a:r>
          </a:p>
          <a:p>
            <a:pPr>
              <a:defRPr sz="2000"/>
            </a:pPr>
            <a:r>
              <a:t>FastAPI + Uvicorn</a:t>
            </a:r>
          </a:p>
          <a:p>
            <a:pPr>
              <a:defRPr sz="2000"/>
            </a:pPr>
            <a:r>
              <a:t>Pydantic v2 + jsonschema</a:t>
            </a:r>
          </a:p>
          <a:p>
            <a:pPr>
              <a:defRPr sz="2000"/>
            </a:pPr>
            <a:r>
              <a:t>SQLAlchemy 2.x + Alembic</a:t>
            </a:r>
          </a:p>
          <a:p>
            <a:pPr>
              <a:defRPr sz="2000"/>
            </a:pPr>
            <a:r>
              <a:t>PostgreSQL 16</a:t>
            </a:r>
          </a:p>
          <a:p>
            <a:pPr>
              <a:defRPr sz="2000"/>
            </a:pPr>
            <a:r>
              <a:t>LocalStack S3 + Kinesis</a:t>
            </a:r>
          </a:p>
          <a:p>
            <a:pPr>
              <a:defRPr sz="2000"/>
            </a:pPr>
            <a:r>
              <a:t>Boto3</a:t>
            </a:r>
          </a:p>
          <a:p>
            <a:pPr>
              <a:defRPr sz="2000"/>
            </a:pPr>
            <a:r>
              <a:t>structlog (JSON logging)</a:t>
            </a:r>
          </a:p>
          <a:p>
            <a:pPr>
              <a:defRPr sz="2000"/>
            </a:pPr>
            <a:r>
              <a:t>pytest + moto + httpx</a:t>
            </a:r>
          </a:p>
          <a:p>
            <a:pPr>
              <a:defRPr sz="2000"/>
            </a:pPr>
            <a:r>
              <a:t>Prometheus + Grafana</a:t>
            </a:r>
          </a:p>
          <a:p>
            <a:pPr>
              <a:defRPr sz="2000"/>
            </a:pPr>
            <a:r>
              <a:t>Docker + Docker Compose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Structure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config: runtime YAML configuration</a:t>
            </a:r>
          </a:p>
          <a:p>
            <a:pPr>
              <a:defRPr sz="2000"/>
            </a:pPr>
            <a:r>
              <a:t>metadata: source/routing/validation/stream definitions</a:t>
            </a:r>
          </a:p>
          <a:p>
            <a:pPr>
              <a:defRPr sz="2000"/>
            </a:pPr>
            <a:r>
              <a:t>schemas: per-source JSON schemas</a:t>
            </a:r>
          </a:p>
          <a:p>
            <a:pPr>
              <a:defRPr sz="2000"/>
            </a:pPr>
            <a:r>
              <a:t>sample-data: test payloads</a:t>
            </a:r>
          </a:p>
          <a:p>
            <a:pPr>
              <a:defRPr sz="2000"/>
            </a:pPr>
            <a:r>
              <a:t>common: shared components (models, validation, storage, aws, repository)</a:t>
            </a:r>
          </a:p>
          <a:p>
            <a:pPr>
              <a:defRPr sz="2000"/>
            </a:pPr>
            <a:r>
              <a:t>ingestion-service: API service implementation</a:t>
            </a:r>
          </a:p>
          <a:p>
            <a:pPr>
              <a:defRPr sz="2000"/>
            </a:pPr>
            <a:r>
              <a:t>infrastructure/postgres/init.sql: DB bootstrap</a:t>
            </a:r>
          </a:p>
          <a:p>
            <a:pPr>
              <a:defRPr sz="2000"/>
            </a:pPr>
            <a:r>
              <a:t>infrastructure/localstack/init-aws.sh: S3/Kinesis bootstrap</a:t>
            </a:r>
          </a:p>
          <a:p>
            <a:pPr>
              <a:defRPr sz="2000"/>
            </a:pPr>
            <a:r>
              <a:t>tests: offline-capable pytest suite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Services and 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Ingestion API: http://localhost:8000/api/v1</a:t>
            </a:r>
          </a:p>
          <a:p>
            <a:pPr>
              <a:defRPr sz="2000"/>
            </a:pPr>
            <a:r>
              <a:t>Swagger UI: http://localhost:8000/docs</a:t>
            </a:r>
          </a:p>
          <a:p>
            <a:pPr>
              <a:defRPr sz="2000"/>
            </a:pPr>
            <a:r>
              <a:t>Health: http://localhost:8000/api/v1/health</a:t>
            </a:r>
          </a:p>
          <a:p>
            <a:pPr>
              <a:defRPr sz="2000"/>
            </a:pPr>
            <a:r>
              <a:t>LocalStack: http://localhost:4566</a:t>
            </a:r>
          </a:p>
          <a:p>
            <a:pPr>
              <a:defRPr sz="2000"/>
            </a:pPr>
            <a:r>
              <a:t>PostgreSQL: localhost:5432</a:t>
            </a:r>
          </a:p>
          <a:p>
            <a:pPr>
              <a:defRPr sz="2000"/>
            </a:pPr>
            <a:r>
              <a:t>pgAdmin: http://localhost:5050</a:t>
            </a:r>
          </a:p>
          <a:p>
            <a:pPr>
              <a:defRPr sz="2000"/>
            </a:pPr>
            <a:r>
              <a:t>Prometheus: http://localhost:9090</a:t>
            </a:r>
          </a:p>
          <a:p>
            <a:pPr>
              <a:defRPr sz="2000"/>
            </a:pPr>
            <a:r>
              <a:t>Grafana: http://localhost:3000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 by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Ingestion endpoints:</a:t>
            </a:r>
          </a:p>
          <a:p>
            <a:pPr>
              <a:defRPr sz="2000"/>
            </a:pPr>
            <a:r>
              <a:t>POST /api/v1/mes/events</a:t>
            </a:r>
          </a:p>
          <a:p>
            <a:pPr>
              <a:defRPr sz="2000"/>
            </a:pPr>
            <a:r>
              <a:t>POST /api/v1/erp/events</a:t>
            </a:r>
          </a:p>
          <a:p>
            <a:pPr>
              <a:defRPr sz="2000"/>
            </a:pPr>
            <a:r>
              <a:t>POST /api/v1/equipment/events</a:t>
            </a:r>
          </a:p>
          <a:p>
            <a:pPr>
              <a:defRPr sz="2000"/>
            </a:pPr>
            <a:r>
              <a:t>POST /api/v1/plm/events</a:t>
            </a:r>
          </a:p>
          <a:p>
            <a:pPr>
              <a:defRPr sz="2000"/>
            </a:pPr>
            <a:r>
              <a:t>Operational endpoints:</a:t>
            </a:r>
          </a:p>
          <a:p>
            <a:pPr>
              <a:defRPr sz="2000"/>
            </a:pPr>
            <a:r>
              <a:t>GET /api/v1/health</a:t>
            </a:r>
          </a:p>
          <a:p>
            <a:pPr>
              <a:defRPr sz="2000"/>
            </a:pPr>
            <a:r>
              <a:t>GET /api/v1/ready</a:t>
            </a:r>
          </a:p>
          <a:p>
            <a:pPr>
              <a:defRPr sz="2000"/>
            </a:pPr>
            <a:r>
              <a:t>GET /api/v1/config/sources</a:t>
            </a:r>
          </a:p>
          <a:p>
            <a:pPr>
              <a:defRPr sz="2000"/>
            </a:pPr>
            <a:r>
              <a:t>GET /api/v1/config/streams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Ingestion Response (202)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request_id</a:t>
            </a:r>
          </a:p>
          <a:p>
            <a:pPr>
              <a:defRPr sz="2000"/>
            </a:pPr>
            <a:r>
              <a:t>source</a:t>
            </a:r>
          </a:p>
          <a:p>
            <a:pPr>
              <a:defRPr sz="2000"/>
            </a:pPr>
            <a:r>
              <a:t>status = ACCEPTED</a:t>
            </a:r>
          </a:p>
          <a:p>
            <a:pPr>
              <a:defRPr sz="2000"/>
            </a:pPr>
            <a:r>
              <a:t>s3_key</a:t>
            </a:r>
          </a:p>
          <a:p>
            <a:pPr>
              <a:defRPr sz="2000"/>
            </a:pPr>
            <a:r>
              <a:t>stream</a:t>
            </a:r>
          </a:p>
          <a:p>
            <a:pPr>
              <a:defRPr sz="2000"/>
            </a:pPr>
            <a:r>
              <a:t>sequence_number</a:t>
            </a:r>
          </a:p>
          <a:p>
            <a:pPr>
              <a:defRPr sz="2000"/>
            </a:pPr>
            <a:r>
              <a:t>curated_record_id</a:t>
            </a:r>
          </a:p>
          <a:p>
            <a:pPr>
              <a:defRPr sz="2000"/>
            </a:pPr>
            <a:r>
              <a:t>Value:</a:t>
            </a:r>
          </a:p>
          <a:p>
            <a:pPr>
              <a:defRPr sz="2000"/>
            </a:pPr>
            <a:r>
              <a:t>Immediate operational acknowledgement</a:t>
            </a:r>
          </a:p>
          <a:p>
            <a:pPr>
              <a:defRPr sz="2000"/>
            </a:pPr>
            <a:r>
              <a:t>IDs for lineage tracing across storage and streaming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and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Payloads are validated per-source using JSON Schema</a:t>
            </a:r>
          </a:p>
          <a:p>
            <a:pPr>
              <a:defRPr sz="2000"/>
            </a:pPr>
            <a:r>
              <a:t>Validation failure returns HTTP 400 with structured errors</a:t>
            </a:r>
          </a:p>
          <a:p>
            <a:pPr>
              <a:defRPr sz="2000"/>
            </a:pPr>
            <a:r>
              <a:t>Malformed JSON also returns HTTP 400</a:t>
            </a:r>
          </a:p>
          <a:p>
            <a:pPr>
              <a:defRPr sz="2000"/>
            </a:pPr>
            <a:r>
              <a:t>Health endpoint returns component-level statuses and can return 503 when dependencies fail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PostgreSQL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Schemas:</a:t>
            </a:r>
          </a:p>
          <a:p>
            <a:pPr>
              <a:defRPr sz="2000"/>
            </a:pPr>
            <a:r>
              <a:t>mdm</a:t>
            </a:r>
          </a:p>
          <a:p>
            <a:pPr>
              <a:defRPr sz="2000"/>
            </a:pPr>
            <a:r>
              <a:t>metadata</a:t>
            </a:r>
          </a:p>
          <a:p>
            <a:pPr>
              <a:defRPr sz="2000"/>
            </a:pPr>
            <a:r>
              <a:t>quality (reserved for future use)</a:t>
            </a:r>
          </a:p>
          <a:p>
            <a:pPr>
              <a:defRPr sz="2000"/>
            </a:pPr>
            <a:r>
              <a:t>Primary tables:</a:t>
            </a:r>
          </a:p>
          <a:p>
            <a:pPr>
              <a:defRPr sz="2000"/>
            </a:pPr>
            <a:r>
              <a:t>mdm.lot_master: curated MES rows</a:t>
            </a:r>
          </a:p>
          <a:p>
            <a:pPr>
              <a:defRPr sz="2000"/>
            </a:pPr>
            <a:r>
              <a:t>metadata.raw_events: generic curated rows for ERP/Equipment/PLM</a:t>
            </a:r>
          </a:p>
          <a:p>
            <a:pPr>
              <a:defRPr sz="2000"/>
            </a:pPr>
            <a:r>
              <a:t>metadata.ingestion_log: request-level audit log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Relationships and Lineage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Current model uses logical relationships (lineage keys), not strict FK constraints.</a:t>
            </a:r>
          </a:p>
          <a:p>
            <a:pPr>
              <a:defRPr sz="2000"/>
            </a:pPr>
            <a:r>
              <a:t>Logical linkage signals:</a:t>
            </a:r>
          </a:p>
          <a:p>
            <a:pPr>
              <a:defRPr sz="2000"/>
            </a:pPr>
            <a:r>
              <a:t>request_id</a:t>
            </a:r>
          </a:p>
          <a:p>
            <a:pPr>
              <a:defRPr sz="2000"/>
            </a:pPr>
            <a:r>
              <a:t>source</a:t>
            </a:r>
          </a:p>
          <a:p>
            <a:pPr>
              <a:defRPr sz="2000"/>
            </a:pPr>
            <a:r>
              <a:t>stream</a:t>
            </a:r>
          </a:p>
          <a:p>
            <a:pPr>
              <a:defRPr sz="2000"/>
            </a:pPr>
            <a:r>
              <a:t>s3_key</a:t>
            </a:r>
          </a:p>
          <a:p>
            <a:pPr>
              <a:defRPr sz="2000"/>
            </a:pPr>
            <a:r>
              <a:t>time ordering</a:t>
            </a:r>
          </a:p>
          <a:p>
            <a:pPr>
              <a:defRPr sz="2000"/>
            </a:pPr>
            <a:r>
              <a:t>View:</a:t>
            </a:r>
          </a:p>
          <a:p>
            <a:pPr>
              <a:defRPr sz="2000"/>
            </a:pPr>
            <a:r>
              <a:t>metadata.v_ingestion_lineage</a:t>
            </a:r>
          </a:p>
          <a:p>
            <a:pPr>
              <a:defRPr sz="2000"/>
            </a:pPr>
            <a:r>
              <a:t>Normalizes request-to-curated mapping for analysis and operations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and Streaming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S3</a:t>
            </a:r>
          </a:p>
          <a:p>
            <a:pPr>
              <a:defRPr sz="2000"/>
            </a:pPr>
            <a:r>
              <a:t>Durable raw payload retention by source prefix</a:t>
            </a:r>
          </a:p>
          <a:p>
            <a:pPr>
              <a:defRPr sz="2000"/>
            </a:pPr>
            <a:r>
              <a:t>Supports replay and forensic analysis</a:t>
            </a:r>
          </a:p>
          <a:p>
            <a:pPr>
              <a:defRPr sz="2000"/>
            </a:pPr>
            <a:r>
              <a:t>Kinesis</a:t>
            </a:r>
          </a:p>
          <a:p>
            <a:pPr>
              <a:defRPr sz="2000"/>
            </a:pPr>
            <a:r>
              <a:t>Event fan-out to downstream consumers</a:t>
            </a:r>
          </a:p>
          <a:p>
            <a:pPr>
              <a:defRPr sz="2000"/>
            </a:pPr>
            <a:r>
              <a:t>Streams:</a:t>
            </a:r>
          </a:p>
          <a:p>
            <a:pPr>
              <a:defRPr sz="2000"/>
            </a:pPr>
            <a:r>
              <a:t>mes-events</a:t>
            </a:r>
          </a:p>
          <a:p>
            <a:pPr>
              <a:defRPr sz="2000"/>
            </a:pPr>
            <a:r>
              <a:t>metadata-events</a:t>
            </a:r>
          </a:p>
          <a:p>
            <a:pPr>
              <a:defRPr sz="2000"/>
            </a:pPr>
            <a:r>
              <a:t>quality-events</a:t>
            </a:r>
          </a:p>
          <a:p>
            <a:pPr>
              <a:defRPr sz="2000"/>
            </a:pPr>
            <a:r>
              <a:t>plm-events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and Operational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scripts/verify_pipeline.ps1</a:t>
            </a:r>
          </a:p>
          <a:p>
            <a:pPr>
              <a:defRPr sz="2000"/>
            </a:pPr>
            <a:r>
              <a:rPr dirty="0"/>
              <a:t>Supports all-source verification mode</a:t>
            </a:r>
          </a:p>
          <a:p>
            <a:pPr>
              <a:defRPr sz="2000"/>
            </a:pPr>
            <a:r>
              <a:rPr dirty="0"/>
              <a:t>Can ingest samples and validate API, S3, Kinesis, and Postgres</a:t>
            </a:r>
          </a:p>
          <a:p>
            <a:pPr>
              <a:defRPr sz="2000"/>
            </a:pPr>
            <a:r>
              <a:rPr dirty="0"/>
              <a:t>Auto-writes results to docs/end_to_end_test_result.md</a:t>
            </a:r>
          </a:p>
          <a:p>
            <a:pPr>
              <a:defRPr sz="2000"/>
            </a:pPr>
            <a:r>
              <a:rPr dirty="0"/>
              <a:t>scripts/</a:t>
            </a:r>
            <a:r>
              <a:rPr dirty="0" err="1"/>
              <a:t>sql</a:t>
            </a:r>
            <a:r>
              <a:rPr dirty="0"/>
              <a:t>/</a:t>
            </a:r>
            <a:r>
              <a:rPr dirty="0" err="1"/>
              <a:t>postgres_table_queries.sql</a:t>
            </a:r>
            <a:endParaRPr dirty="0"/>
          </a:p>
          <a:p>
            <a:pPr>
              <a:defRPr sz="2000"/>
            </a:pPr>
            <a:r>
              <a:rPr dirty="0"/>
              <a:t>Counts, recent rows, lineage queries</a:t>
            </a:r>
          </a:p>
          <a:p>
            <a:pPr>
              <a:defRPr sz="2000"/>
            </a:pPr>
            <a:r>
              <a:rPr dirty="0"/>
              <a:t>scripts/</a:t>
            </a:r>
            <a:r>
              <a:rPr dirty="0" err="1"/>
              <a:t>sql</a:t>
            </a:r>
            <a:r>
              <a:rPr dirty="0"/>
              <a:t>/</a:t>
            </a:r>
            <a:r>
              <a:rPr dirty="0" err="1"/>
              <a:t>postgres_delete_rows.sql</a:t>
            </a:r>
            <a:endParaRPr dirty="0"/>
          </a:p>
          <a:p>
            <a:pPr>
              <a:defRPr sz="2000"/>
            </a:pPr>
            <a:r>
              <a:rPr dirty="0"/>
              <a:t>scripts/</a:t>
            </a:r>
            <a:r>
              <a:rPr dirty="0" err="1"/>
              <a:t>sql</a:t>
            </a:r>
            <a:r>
              <a:rPr dirty="0"/>
              <a:t>/</a:t>
            </a:r>
            <a:r>
              <a:rPr dirty="0" err="1"/>
              <a:t>postgres_insert_rows.sql</a:t>
            </a:r>
            <a:endParaRPr lang="en-IN" dirty="0"/>
          </a:p>
          <a:p>
            <a:pPr>
              <a:defRPr sz="2000"/>
            </a:pPr>
            <a:r>
              <a:rPr lang="en-IN" dirty="0"/>
              <a:t>scripts/smoke_test.sh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Offline-friendly tests with moto and in-memory SQLite</a:t>
            </a:r>
          </a:p>
          <a:p>
            <a:pPr marL="0" indent="0">
              <a:buNone/>
              <a:defRPr sz="2000"/>
            </a:pPr>
            <a:endParaRPr lang="en-IN" dirty="0"/>
          </a:p>
          <a:p>
            <a:pPr marL="0" indent="0">
              <a:buNone/>
              <a:defRPr sz="2000"/>
            </a:pPr>
            <a:r>
              <a:rPr dirty="0"/>
              <a:t>Coverage includes:</a:t>
            </a:r>
          </a:p>
          <a:p>
            <a:pPr>
              <a:defRPr sz="2000"/>
            </a:pPr>
            <a:r>
              <a:rPr dirty="0"/>
              <a:t>schema validation</a:t>
            </a:r>
          </a:p>
          <a:p>
            <a:pPr>
              <a:defRPr sz="2000"/>
            </a:pPr>
            <a:r>
              <a:rPr dirty="0"/>
              <a:t>API success and failure paths</a:t>
            </a:r>
          </a:p>
          <a:p>
            <a:pPr>
              <a:defRPr sz="2000"/>
            </a:pPr>
            <a:r>
              <a:rPr dirty="0"/>
              <a:t>repository behavior</a:t>
            </a:r>
          </a:p>
          <a:p>
            <a:pPr>
              <a:defRPr sz="2000"/>
            </a:pPr>
            <a:r>
              <a:rPr dirty="0"/>
              <a:t>S3 and Kinesis integration abstractions</a:t>
            </a:r>
          </a:p>
          <a:p>
            <a:pPr>
              <a:defRPr sz="2000"/>
            </a:pPr>
            <a:r>
              <a:rPr dirty="0"/>
              <a:t>configuration loading</a:t>
            </a:r>
          </a:p>
          <a:p>
            <a:pPr>
              <a:defRPr sz="2000"/>
            </a:pPr>
            <a:r>
              <a:rPr dirty="0"/>
              <a:t>Operational testing also available via </a:t>
            </a:r>
            <a:r>
              <a:rPr dirty="0" err="1"/>
              <a:t>dockerized</a:t>
            </a:r>
            <a:r>
              <a:rPr dirty="0"/>
              <a:t> runtime checks.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929CE-AF75-D63A-0834-0E686241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0141E-F7A6-B8A6-DCA2-D2A51237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Testing and Results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C051F-706D-D7E5-D6D4-5CC6D45E5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492048"/>
            <a:ext cx="8490155" cy="49831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/>
              <a:t>Categories and Typical Formats Covered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- telemetry: </a:t>
            </a:r>
            <a:r>
              <a:rPr lang="en-IN" sz="1600" dirty="0" err="1"/>
              <a:t>Protobuf</a:t>
            </a:r>
            <a:r>
              <a:rPr lang="en-IN" sz="1600" dirty="0"/>
              <a:t>, MQTT, Avro, </a:t>
            </a:r>
            <a:r>
              <a:rPr lang="en-IN" sz="1600" dirty="0" err="1"/>
              <a:t>gRPC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- </a:t>
            </a:r>
            <a:r>
              <a:rPr lang="en-IN" sz="1600" dirty="0" err="1"/>
              <a:t>system_health</a:t>
            </a:r>
            <a:r>
              <a:rPr lang="en-IN" sz="1600" dirty="0"/>
              <a:t>: JSON, REST, XML</a:t>
            </a:r>
          </a:p>
          <a:p>
            <a:pPr marL="0" indent="0">
              <a:buNone/>
            </a:pPr>
            <a:r>
              <a:rPr lang="en-IN" sz="1600" dirty="0"/>
              <a:t>- logs: Syslog, JSON Logs, Text</a:t>
            </a:r>
          </a:p>
          <a:p>
            <a:pPr marL="0" indent="0">
              <a:buNone/>
            </a:pPr>
            <a:r>
              <a:rPr lang="en-IN" sz="1600" dirty="0"/>
              <a:t>- events: JSON, Kafka, MQTT</a:t>
            </a:r>
          </a:p>
          <a:p>
            <a:pPr marL="0" indent="0">
              <a:buNone/>
            </a:pPr>
            <a:r>
              <a:rPr lang="en-IN" sz="1600" dirty="0"/>
              <a:t>- configuration: YAML, JSON, XML</a:t>
            </a:r>
          </a:p>
          <a:p>
            <a:pPr marL="0" indent="0">
              <a:buNone/>
            </a:pPr>
            <a:r>
              <a:rPr lang="en-IN" sz="1600" dirty="0"/>
              <a:t>- performance: Parquet, CSV</a:t>
            </a:r>
          </a:p>
          <a:p>
            <a:pPr marL="0" indent="0">
              <a:buNone/>
            </a:pPr>
            <a:r>
              <a:rPr lang="en-IN" sz="1600" dirty="0"/>
              <a:t>- validation: CSV, HDF5, XML</a:t>
            </a:r>
          </a:p>
          <a:p>
            <a:pPr marL="0" indent="0">
              <a:buNone/>
            </a:pPr>
            <a:r>
              <a:rPr lang="en-IN" sz="1600" dirty="0"/>
              <a:t>- environmental: MQTT, JSON</a:t>
            </a:r>
          </a:p>
          <a:p>
            <a:pPr marL="0" indent="0">
              <a:buNone/>
            </a:pPr>
            <a:r>
              <a:rPr lang="en-IN" sz="1600" dirty="0"/>
              <a:t>- design: Verilog, GDSII, LEF/DEF</a:t>
            </a:r>
          </a:p>
          <a:p>
            <a:pPr marL="0" indent="0">
              <a:buNone/>
            </a:pPr>
            <a:r>
              <a:rPr lang="en-IN" sz="1600" dirty="0"/>
              <a:t>- manufacturing: STDF, SECS/GEM, OPC-UA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Executable </a:t>
            </a:r>
            <a:r>
              <a:rPr lang="en-IN" sz="1600" b="1" dirty="0" err="1"/>
              <a:t>powershell</a:t>
            </a:r>
            <a:r>
              <a:rPr lang="en-IN" sz="1600" b="1" dirty="0"/>
              <a:t> command for testing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c:/Users/ravik/rkpy/Semiconductor_Operations_Data_Platform/.venv/Scripts/python.exe -m </a:t>
            </a:r>
            <a:r>
              <a:rPr lang="en-IN" sz="1600" dirty="0" err="1"/>
              <a:t>pytest</a:t>
            </a:r>
            <a:r>
              <a:rPr lang="en-IN" sz="1600" dirty="0"/>
              <a:t> tests/test_data_categories_metadata.py tests/test_multiformat_samples.py tests/test_schema_validation.py -q</a:t>
            </a:r>
          </a:p>
        </p:txBody>
      </p:sp>
    </p:spTree>
    <p:extLst>
      <p:ext uri="{BB962C8B-B14F-4D97-AF65-F5344CB8AC3E}">
        <p14:creationId xmlns:p14="http://schemas.microsoft.com/office/powerpoint/2010/main" val="3660186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Demo Flo</a:t>
            </a:r>
            <a:r>
              <a:rPr lang="en-IN" dirty="0"/>
              <a:t>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Start stack: docker compose up --build</a:t>
            </a:r>
          </a:p>
          <a:p>
            <a:pPr>
              <a:defRPr sz="2000"/>
            </a:pPr>
            <a:r>
              <a:rPr dirty="0"/>
              <a:t>Open docs UI: /docs</a:t>
            </a:r>
          </a:p>
          <a:p>
            <a:pPr>
              <a:defRPr sz="2000"/>
            </a:pPr>
            <a:r>
              <a:rPr dirty="0"/>
              <a:t>Post sample events for MES, ERP, Equipment, PLM</a:t>
            </a:r>
          </a:p>
          <a:p>
            <a:pPr>
              <a:defRPr sz="2000"/>
            </a:pPr>
            <a:r>
              <a:rPr dirty="0"/>
              <a:t>Verify S3 objects by source prefix</a:t>
            </a:r>
          </a:p>
          <a:p>
            <a:pPr>
              <a:defRPr sz="2000"/>
            </a:pPr>
            <a:r>
              <a:rPr dirty="0"/>
              <a:t>Read Kinesis records per stream</a:t>
            </a:r>
          </a:p>
          <a:p>
            <a:pPr>
              <a:defRPr sz="2000"/>
            </a:pPr>
            <a:r>
              <a:rPr dirty="0"/>
              <a:t>Query PostgreSQL tables and </a:t>
            </a:r>
            <a:r>
              <a:rPr dirty="0" err="1"/>
              <a:t>metadata.v_ingestion_lineage</a:t>
            </a:r>
            <a:endParaRPr dirty="0"/>
          </a:p>
          <a:p>
            <a:pPr>
              <a:defRPr sz="2000"/>
            </a:pPr>
            <a:r>
              <a:rPr dirty="0"/>
              <a:t>Run end-to-end verifier and review markdown report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and Technical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Faster source onboarding with lower engineering effort</a:t>
            </a:r>
          </a:p>
          <a:p>
            <a:pPr>
              <a:defRPr sz="2000"/>
            </a:pPr>
            <a:r>
              <a:t>Strong data quality gate at ingress</a:t>
            </a:r>
          </a:p>
          <a:p>
            <a:pPr>
              <a:defRPr sz="2000"/>
            </a:pPr>
            <a:r>
              <a:t>Unified observability and health status</a:t>
            </a:r>
          </a:p>
          <a:p>
            <a:pPr>
              <a:defRPr sz="2000"/>
            </a:pPr>
            <a:r>
              <a:t>Better traceability for yield and compliance investigations</a:t>
            </a:r>
          </a:p>
          <a:p>
            <a:pPr>
              <a:defRPr sz="2000"/>
            </a:pPr>
            <a:r>
              <a:t>Reusable platform pattern for future semiconductor services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Endpoints active for MES, ERP, Equipment, PLM</a:t>
            </a:r>
          </a:p>
          <a:p>
            <a:pPr>
              <a:defRPr sz="2000"/>
            </a:pPr>
            <a:r>
              <a:rPr dirty="0"/>
              <a:t>Source-specific sample payloads and schema validation in place</a:t>
            </a:r>
          </a:p>
          <a:p>
            <a:pPr>
              <a:defRPr sz="2000"/>
            </a:pPr>
            <a:r>
              <a:rPr dirty="0" err="1"/>
              <a:t>LocalStack</a:t>
            </a:r>
            <a:r>
              <a:rPr dirty="0"/>
              <a:t> streams and S3 buckets provisioned</a:t>
            </a:r>
          </a:p>
          <a:p>
            <a:pPr>
              <a:defRPr sz="2000"/>
            </a:pPr>
            <a:r>
              <a:rPr dirty="0"/>
              <a:t>Postgres lineage view implemented and </a:t>
            </a:r>
            <a:r>
              <a:rPr dirty="0" err="1"/>
              <a:t>queryable</a:t>
            </a:r>
            <a:endParaRPr dirty="0"/>
          </a:p>
          <a:p>
            <a:pPr>
              <a:defRPr sz="2000"/>
            </a:pPr>
            <a:r>
              <a:rPr dirty="0"/>
              <a:t>End-to-end verification script passing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Add stricter relational keys or optional FK strategy if required</a:t>
            </a:r>
          </a:p>
          <a:p>
            <a:pPr>
              <a:defRPr sz="2000"/>
            </a:pPr>
            <a:r>
              <a:t>Introduce data quality service in quality schema</a:t>
            </a:r>
          </a:p>
          <a:p>
            <a:pPr>
              <a:defRPr sz="2000"/>
            </a:pPr>
            <a:r>
              <a:t>Add semantic layer and catalog integration</a:t>
            </a:r>
          </a:p>
          <a:p>
            <a:pPr>
              <a:defRPr sz="2000"/>
            </a:pPr>
            <a:r>
              <a:t>Extend with MDM and knowledge graph capabilities</a:t>
            </a:r>
          </a:p>
          <a:p>
            <a:pPr>
              <a:defRPr sz="2000"/>
            </a:pPr>
            <a:r>
              <a:t>Add AI-assisted anomaly triage and operational copilots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Useful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Start stack</a:t>
            </a:r>
          </a:p>
          <a:p>
            <a:pPr>
              <a:defRPr sz="2000"/>
            </a:pPr>
            <a:r>
              <a:rPr dirty="0"/>
              <a:t>docker compose up --build</a:t>
            </a:r>
          </a:p>
          <a:p>
            <a:pPr>
              <a:defRPr sz="2000"/>
            </a:pPr>
            <a:r>
              <a:rPr dirty="0"/>
              <a:t>Run all-source verification</a:t>
            </a:r>
          </a:p>
          <a:p>
            <a:pPr>
              <a:defRPr sz="2000"/>
            </a:pPr>
            <a:r>
              <a:rPr dirty="0"/>
              <a:t>.\scripts\verify_pipeline.ps1 -</a:t>
            </a:r>
            <a:r>
              <a:rPr dirty="0" err="1"/>
              <a:t>IngestAllSamples</a:t>
            </a:r>
            <a:endParaRPr dirty="0"/>
          </a:p>
          <a:p>
            <a:pPr>
              <a:defRPr sz="2000"/>
            </a:pPr>
            <a:r>
              <a:rPr dirty="0"/>
              <a:t>Read Postgres query file</a:t>
            </a:r>
          </a:p>
          <a:p>
            <a:pPr>
              <a:defRPr sz="2000"/>
            </a:pPr>
            <a:r>
              <a:rPr dirty="0"/>
              <a:t>Get-Content .\scripts\</a:t>
            </a:r>
            <a:r>
              <a:rPr dirty="0" err="1"/>
              <a:t>sql</a:t>
            </a:r>
            <a:r>
              <a:rPr dirty="0"/>
              <a:t>\</a:t>
            </a:r>
            <a:r>
              <a:rPr dirty="0" err="1"/>
              <a:t>postgres_table_queries.sql</a:t>
            </a:r>
            <a:r>
              <a:rPr dirty="0"/>
              <a:t> | docker compose exec -T </a:t>
            </a:r>
            <a:r>
              <a:rPr dirty="0" err="1"/>
              <a:t>postgres</a:t>
            </a:r>
            <a:r>
              <a:rPr dirty="0"/>
              <a:t> </a:t>
            </a:r>
            <a:r>
              <a:rPr dirty="0" err="1"/>
              <a:t>psql</a:t>
            </a:r>
            <a:r>
              <a:rPr dirty="0"/>
              <a:t> -U </a:t>
            </a:r>
            <a:r>
              <a:rPr dirty="0" err="1"/>
              <a:t>sap_user</a:t>
            </a:r>
            <a:r>
              <a:rPr dirty="0"/>
              <a:t> -d semiconductor</a:t>
            </a:r>
          </a:p>
          <a:p>
            <a:pPr>
              <a:defRPr sz="2000"/>
            </a:pPr>
            <a:r>
              <a:rPr dirty="0"/>
              <a:t>Use stream-specific shard iterator flow with </a:t>
            </a:r>
            <a:r>
              <a:rPr dirty="0" err="1"/>
              <a:t>awslocal</a:t>
            </a:r>
            <a:r>
              <a:rPr dirty="0"/>
              <a:t> kinesis </a:t>
            </a:r>
            <a:r>
              <a:rPr lang="en-IN" dirty="0"/>
              <a:t>for reading data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1482</Words>
  <Application>Microsoft Office PowerPoint</Application>
  <PresentationFormat>On-screen Show (4:3)</PresentationFormat>
  <Paragraphs>232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Semiconductor_Operations_Data_Platform (SODP) - Phase 1</vt:lpstr>
      <vt:lpstr>Agenda</vt:lpstr>
      <vt:lpstr>Business Context</vt:lpstr>
      <vt:lpstr>Platform Goals</vt:lpstr>
      <vt:lpstr>Source Systems in Semiconductor</vt:lpstr>
      <vt:lpstr>Architecture Overview</vt:lpstr>
      <vt:lpstr>Metadata-Driven Design</vt:lpstr>
      <vt:lpstr>Technology Stack</vt:lpstr>
      <vt:lpstr>Repository Structure (High Level)</vt:lpstr>
      <vt:lpstr>Runtime Services and Ports</vt:lpstr>
      <vt:lpstr>API Endpoints by Source</vt:lpstr>
      <vt:lpstr>Example Ingestion Response (202)</vt:lpstr>
      <vt:lpstr>Validation and Error Handling</vt:lpstr>
      <vt:lpstr>PostgreSQL Data Model</vt:lpstr>
      <vt:lpstr>Table Relationships and Lineage</vt:lpstr>
      <vt:lpstr>Storage and Streaming Strategy</vt:lpstr>
      <vt:lpstr>Verification and Operational Scripts</vt:lpstr>
      <vt:lpstr>Testing Strategy</vt:lpstr>
      <vt:lpstr>Testing and Results</vt:lpstr>
      <vt:lpstr>Demo Flow</vt:lpstr>
      <vt:lpstr>Business and Technical Value</vt:lpstr>
      <vt:lpstr>Current Status</vt:lpstr>
      <vt:lpstr>Future Roadmap</vt:lpstr>
      <vt:lpstr>Appendix: Useful Commands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Ravikanth Kowdeed</cp:lastModifiedBy>
  <cp:revision>33</cp:revision>
  <dcterms:created xsi:type="dcterms:W3CDTF">2013-01-27T09:14:16Z</dcterms:created>
  <dcterms:modified xsi:type="dcterms:W3CDTF">2026-07-20T02:33:44Z</dcterms:modified>
  <cp:category/>
</cp:coreProperties>
</file>